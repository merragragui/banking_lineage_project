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6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3716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92608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3840480" cy="2153836"/>
          </a:xfrm>
          <a:prstGeom prst="rect">
            <a:avLst/>
          </a:prstGeom>
        </p:spPr>
      </p:pic>
      <p:pic>
        <p:nvPicPr>
          <p:cNvPr id="5" name="Picture 4" descr="ems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389120"/>
            <a:ext cx="3474720" cy="1303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PFA : Plateforme Web de Data Lineage &amp; Supervision Bancaire</a:t>
            </a:r>
          </a:p>
          <a:p>
            <a:br/>
            <a:pPr>
              <a:defRPr sz="2000" b="1">
                <a:solidFill>
                  <a:srgbClr val="3D0C02"/>
                </a:solidFill>
              </a:defRPr>
            </a:pPr>
            <a:r>
              <a:t>Réalisé et présenté par :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Mlle. Meriam Erragragui</a:t>
            </a:r>
            <a:br/>
            <a:r>
              <a:t>Mr. Omar Tazi</a:t>
            </a:r>
          </a:p>
          <a:p>
            <a:br/>
            <a:pPr>
              <a:defRPr sz="1800">
                <a:solidFill>
                  <a:srgbClr val="3D0C02"/>
                </a:solidFill>
              </a:defRPr>
            </a:pPr>
            <a:r>
              <a:t>Encadrée par : Pr. Chaimae Taoussi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Entreprise d'accueil : Banque Populaire (Banque Chaabi)</a:t>
            </a:r>
            <a:br/>
            <a:r>
              <a:t>Année Universitaire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3D0C02"/>
                </a:solidFill>
              </a:rPr>
              <a:t>Som</a:t>
            </a:r>
            <a:r>
              <a:rPr b="1" sz="4000">
                <a:solidFill>
                  <a:srgbClr val="F36F21"/>
                </a:solidFill>
              </a:rPr>
              <a:t>maire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3017520" cy="1645920"/>
          </a:xfrm>
          <a:prstGeom prst="round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017520" cy="1645920"/>
          </a:xfrm>
          <a:prstGeom prst="round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2. Cadre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017520" cy="1645920"/>
          </a:xfrm>
          <a:prstGeom prst="roundRect">
            <a:avLst/>
          </a:prstGeom>
          <a:solidFill>
            <a:srgbClr val="E05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3. Conception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3017520" cy="1645920"/>
          </a:xfrm>
          <a:prstGeom prst="roundRect">
            <a:avLst/>
          </a:prstGeom>
          <a:solidFill>
            <a:srgbClr val="8B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4. Technologies utilisées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114800"/>
            <a:ext cx="3017520" cy="1645920"/>
          </a:xfrm>
          <a:prstGeom prst="round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5. Implémentation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017520" cy="1645920"/>
          </a:xfrm>
          <a:prstGeom prst="round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6.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3D0C02"/>
                </a:solidFill>
              </a:rPr>
              <a:t>Intro</a:t>
            </a:r>
            <a:r>
              <a:rPr b="1" sz="3800">
                <a:solidFill>
                  <a:srgbClr val="FFFFFF"/>
                </a:solidFill>
              </a:rPr>
              <a:t>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731520"/>
            <a:ext cx="71323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3D0C02"/>
                </a:solidFill>
              </a:defRPr>
            </a:pPr>
            <a:r>
              <a:t>➢ Contexte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  ▪  Besoin d'outils numériques modernes pour automatiser la gouvernance des données bancaires.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  ▪  Complexité croissante des flux entre comptes, agences, transactions et rapports mensuels.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  ▪  Exigence stricte d'audit de conformité (PII, Data Owner, traçabilité des transformations).</a:t>
            </a:r>
          </a:p>
          <a:p>
            <a:br/>
            <a:pPr>
              <a:defRPr b="1" sz="2600">
                <a:solidFill>
                  <a:srgbClr val="F36F21"/>
                </a:solidFill>
              </a:defRPr>
            </a:pPr>
            <a:r>
              <a:t>➢ Problématique</a:t>
            </a:r>
          </a:p>
          <a:p>
            <a:pPr>
              <a:defRPr b="1" sz="1800">
                <a:solidFill>
                  <a:srgbClr val="1F2937"/>
                </a:solidFill>
              </a:defRPr>
            </a:pPr>
            <a:r>
              <a:t>Comment concevoir une plateforme simple, intelligente et évolutive qui aide la Banque Populaire à :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  ▪  Cartographier automatiquement les 6 tables métier et leur Column-Level Lineage.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  ▪  Identifier la classification PII et les propriétaires de données (Data Owners).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  ▪  Interroger le catalogue en langage naturel et vocal via un Assistant IA intelligent (RAG Mistral).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114800" cy="4572000"/>
          </a:xfrm>
          <a:prstGeom prst="round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600">
                <a:solidFill>
                  <a:srgbClr val="3D0C02"/>
                </a:solidFill>
              </a:rPr>
              <a:t>Cadre </a:t>
            </a:r>
            <a:r>
              <a:rPr b="1" sz="3600">
                <a:solidFill>
                  <a:srgbClr val="FFFFFF"/>
                </a:solidFill>
              </a:rPr>
              <a:t>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109728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D0C02"/>
                </a:solidFill>
              </a:defRPr>
            </a:pPr>
            <a:r>
              <a:t>Projet réalisé dans le cadre d'un Projet de Fin d'Année (PFA)</a:t>
            </a:r>
            <a:br/>
          </a:p>
          <a:p>
            <a:r>
              <a:rPr b="1" sz="2000">
                <a:solidFill>
                  <a:srgbClr val="F36F21"/>
                </a:solidFill>
              </a:rPr>
              <a:t>▪  Thème : </a:t>
            </a:r>
            <a:r>
              <a:rPr sz="2000">
                <a:solidFill>
                  <a:srgbClr val="1F2937"/>
                </a:solidFill>
              </a:rPr>
              <a:t>Automatisation &amp; Investigation Intelligente du Data Lineage Bancaire</a:t>
            </a:r>
          </a:p>
          <a:p>
            <a:r>
              <a:rPr b="1" sz="2000">
                <a:solidFill>
                  <a:srgbClr val="F36F21"/>
                </a:solidFill>
              </a:rPr>
              <a:t>▪  Entreprise d'accueil : </a:t>
            </a:r>
            <a:r>
              <a:rPr sz="2000">
                <a:solidFill>
                  <a:srgbClr val="1F2937"/>
                </a:solidFill>
              </a:rPr>
              <a:t>Banque Populaire (Banque Chaabi)</a:t>
            </a:r>
          </a:p>
          <a:p>
            <a:r>
              <a:rPr b="1" sz="2000">
                <a:solidFill>
                  <a:srgbClr val="F36F21"/>
                </a:solidFill>
              </a:rPr>
              <a:t>▪  Durée : </a:t>
            </a:r>
            <a:r>
              <a:rPr sz="2000">
                <a:solidFill>
                  <a:srgbClr val="1F2937"/>
                </a:solidFill>
              </a:rPr>
              <a:t>2 mois</a:t>
            </a:r>
          </a:p>
          <a:p>
            <a:r>
              <a:rPr b="1" sz="2000">
                <a:solidFill>
                  <a:srgbClr val="F36F21"/>
                </a:solidFill>
              </a:rPr>
              <a:t>▪  Encadrement : </a:t>
            </a:r>
            <a:r>
              <a:rPr sz="2000">
                <a:solidFill>
                  <a:srgbClr val="1F2937"/>
                </a:solidFill>
              </a:rPr>
              <a:t>École EMSI (Pr. Chaimae Taoussi)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6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108960" y="457200"/>
            <a:ext cx="5943600" cy="594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4800">
                <a:solidFill>
                  <a:srgbClr val="3D0C02"/>
                </a:solidFill>
              </a:rPr>
              <a:t>
Concep</a:t>
            </a:r>
            <a:r>
              <a:rPr b="1" sz="4800">
                <a:solidFill>
                  <a:srgbClr val="F36F21"/>
                </a:solidFill>
              </a:rPr>
              <a:t>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45720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3D0C02"/>
                </a:solidFill>
              </a:rPr>
              <a:t>Tech</a:t>
            </a:r>
            <a:r>
              <a:rPr b="1" sz="4000">
                <a:solidFill>
                  <a:srgbClr val="F36F21"/>
                </a:solidFill>
              </a:rPr>
              <a:t>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4754880" cy="2011680"/>
          </a:xfrm>
          <a:prstGeom prst="roundRect">
            <a:avLst/>
          </a:prstGeom>
          <a:solidFill>
            <a:srgbClr val="FFF4ED"/>
          </a:solidFill>
          <a:ln w="19050">
            <a:solidFill>
              <a:srgbClr val="FF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36F21"/>
                </a:solidFill>
              </a:defRPr>
            </a:pPr>
            <a:r>
              <a:t>⚡ Frontend Web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React.js, Vite, Lucide Icons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Web Speech API (Speech-to-Text &amp; Text-to-Speech)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Design System Banque Populaire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4754880" cy="2011680"/>
          </a:xfrm>
          <a:prstGeom prst="roundRect">
            <a:avLst/>
          </a:prstGeom>
          <a:solidFill>
            <a:srgbClr val="FFF4ED"/>
          </a:solidFill>
          <a:ln w="19050">
            <a:solidFill>
              <a:srgbClr val="FF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3D0C02"/>
                </a:solidFill>
              </a:defRPr>
            </a:pPr>
            <a:r>
              <a:t>⚡ Backend API &amp; BDD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Python, FastAPI, SQLAlchemy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PostgreSQL (10 254 transactions, 324 alertes, comptes, clients)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4754880" cy="2011680"/>
          </a:xfrm>
          <a:prstGeom prst="roundRect">
            <a:avLst/>
          </a:prstGeom>
          <a:solidFill>
            <a:srgbClr val="FFF4ED"/>
          </a:solidFill>
          <a:ln w="19050">
            <a:solidFill>
              <a:srgbClr val="FF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E05C0E"/>
                </a:solidFill>
              </a:defRPr>
            </a:pPr>
            <a:r>
              <a:t>⚡ Gouvernance &amp; Lineage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Apache Atlas REST API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Column-Level Lineage &amp; Metadata Catalog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Analyse d'impact dynamique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4754880" cy="2011680"/>
          </a:xfrm>
          <a:prstGeom prst="roundRect">
            <a:avLst/>
          </a:prstGeom>
          <a:solidFill>
            <a:srgbClr val="FFF4ED"/>
          </a:solidFill>
          <a:ln w="19050">
            <a:solidFill>
              <a:srgbClr val="FF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8B3A2B"/>
                </a:solidFill>
              </a:defRPr>
            </a:pPr>
            <a:r>
              <a:t>⚡ IA &amp; Vector Database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Mistral LLM Engine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Qdrant Vector Database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▪ Moteur RAG d'investigation en langage naturel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114800" cy="4572000"/>
          </a:xfrm>
          <a:prstGeom prst="round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3600">
                <a:solidFill>
                  <a:srgbClr val="FFFFFF"/>
                </a:solidFill>
              </a:rPr>
              <a:t>Implémen</a:t>
            </a:r>
            <a:r>
              <a:rPr b="1" sz="3600">
                <a:solidFill>
                  <a:srgbClr val="F36F21"/>
                </a:solidFill>
              </a:rPr>
              <a:t>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109728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700">
                <a:solidFill>
                  <a:srgbClr val="F36F21"/>
                </a:solidFill>
              </a:rPr>
              <a:t>▪ Catalogue de Données : </a:t>
            </a:r>
            <a:r>
              <a:rPr sz="1700">
                <a:solidFill>
                  <a:srgbClr val="1F2937"/>
                </a:solidFill>
              </a:rPr>
              <a:t>6 tables métier synchronisées avec Atlas (clients, agences, comptes, transactions, transactions_suspectes, reporting_mensuel).</a:t>
            </a:r>
          </a:p>
          <a:p>
            <a:r>
              <a:rPr b="1" sz="1700">
                <a:solidFill>
                  <a:srgbClr val="F36F21"/>
                </a:solidFill>
              </a:rPr>
              <a:t>▪ Analyse d'Impact Dinamique : </a:t>
            </a:r>
            <a:r>
              <a:rPr sz="1700">
                <a:solidFill>
                  <a:srgbClr val="1F2937"/>
                </a:solidFill>
              </a:rPr>
              <a:t>Identification instantanée des Data Owners (ex: Équipe Monétique) et classifications PII (Confidentiel / Sensible / Critique).</a:t>
            </a:r>
          </a:p>
          <a:p>
            <a:r>
              <a:rPr b="1" sz="1700">
                <a:solidFill>
                  <a:srgbClr val="F36F21"/>
                </a:solidFill>
              </a:rPr>
              <a:t>▪ Column-Level Lineage : </a:t>
            </a:r>
            <a:r>
              <a:rPr sz="1700">
                <a:solidFill>
                  <a:srgbClr val="1F2937"/>
                </a:solidFill>
              </a:rPr>
              <a:t>Visualisation claire du cheminement des colonnes dans les pipelines ETL (ex: detection_transactions_suspectes).</a:t>
            </a:r>
          </a:p>
          <a:p>
            <a:r>
              <a:rPr b="1" sz="1700">
                <a:solidFill>
                  <a:srgbClr val="F36F21"/>
                </a:solidFill>
              </a:rPr>
              <a:t>▪ Assistant IA Vocal : </a:t>
            </a:r>
            <a:r>
              <a:rPr sz="1700">
                <a:solidFill>
                  <a:srgbClr val="1F2937"/>
                </a:solidFill>
              </a:rPr>
              <a:t>Interaction vocale native (Speech-to-Text) et lecture audio à la demande (Text-to-Speech) connectée au RAG Mistral.</a:t>
            </a:r>
          </a:p>
          <a:p>
            <a:r>
              <a:rPr b="1" sz="1700">
                <a:solidFill>
                  <a:srgbClr val="F36F21"/>
                </a:solidFill>
              </a:rPr>
              <a:t>▪ Supervision Temps Réel : </a:t>
            </a:r>
            <a:r>
              <a:rPr sz="1700">
                <a:solidFill>
                  <a:srgbClr val="1F2937"/>
                </a:solidFill>
              </a:rPr>
              <a:t>Dashboard interactif connecté directement aux tables PostgreSQL.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6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108960" y="457200"/>
            <a:ext cx="5943600" cy="594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4400">
                <a:solidFill>
                  <a:srgbClr val="3D0C02"/>
                </a:solidFill>
              </a:rPr>
              <a:t>
Conclu</a:t>
            </a:r>
            <a:r>
              <a:rPr b="1" sz="4400">
                <a:solidFill>
                  <a:srgbClr val="F36F21"/>
                </a:solidFill>
              </a:rPr>
              <a:t>sion</a:t>
            </a:r>
          </a:p>
          <a:p>
            <a:pPr algn="ctr">
              <a:defRPr b="1" sz="2400">
                <a:solidFill>
                  <a:srgbClr val="3D0C02"/>
                </a:solidFill>
              </a:defRPr>
            </a:pPr>
            <a: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